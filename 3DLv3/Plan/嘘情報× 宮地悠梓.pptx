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64" r:id="rId2"/>
    <p:sldId id="257" r:id="rId3"/>
    <p:sldId id="258" r:id="rId4"/>
    <p:sldId id="265" r:id="rId5"/>
    <p:sldId id="260" r:id="rId6"/>
    <p:sldId id="259" r:id="rId7"/>
    <p:sldId id="262" r:id="rId8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0"/>
      <p:bold r:id="rId11"/>
      <p:italic r:id="rId12"/>
      <p:boldItalic r:id="rId13"/>
    </p:embeddedFont>
    <p:embeddedFont>
      <p:font typeface="Old Standard TT" panose="020B0600070205080204" charset="0"/>
      <p:regular r:id="rId14"/>
      <p:bold r:id="rId15"/>
      <p:italic r:id="rId16"/>
    </p:embeddedFont>
    <p:embeddedFont>
      <p:font typeface="メイリオ" panose="020B0604030504040204" pitchFamily="50" charset="-128"/>
      <p:regular r:id="rId17"/>
      <p:bold r:id="rId18"/>
      <p:italic r:id="rId19"/>
      <p:boldItalic r:id="rId20"/>
    </p:embeddedFont>
    <p:embeddedFont>
      <p:font typeface="メイリオ" panose="020B0604030504040204" pitchFamily="50" charset="-128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4" d="100"/>
          <a:sy n="44" d="100"/>
        </p:scale>
        <p:origin x="48" y="107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53481fd7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3d53481fd7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66427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d53481fd7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g3d53481fd7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53481fd76_1_2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g3d53481fd76_1_2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f6675cacb6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f6675cacb6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d647407b0c_0_37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g3d647407b0c_0_37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f57dcf6d3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g3f57dcf6d3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53481fd76_1_4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53481fd76_1_4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100"/>
            <a:ext cx="9144000" cy="1711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4200"/>
              <a:buNone/>
              <a:defRPr sz="42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12700" y="3840639"/>
            <a:ext cx="8118600" cy="78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None/>
              <a:defRPr sz="24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641934" y="3597500"/>
            <a:ext cx="390300" cy="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512700" y="1893300"/>
            <a:ext cx="8118600" cy="1522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000"/>
              <a:buNone/>
              <a:defRPr sz="60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1"/>
          </p:nvPr>
        </p:nvSpPr>
        <p:spPr>
          <a:xfrm>
            <a:off x="3117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2"/>
          </p:nvPr>
        </p:nvSpPr>
        <p:spPr>
          <a:xfrm>
            <a:off x="4832400" y="1171675"/>
            <a:ext cx="3999900" cy="339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lt2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040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5400"/>
              <a:buNone/>
              <a:defRPr sz="5400"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686400" cy="0"/>
          </a:xfrm>
          <a:prstGeom prst="straightConnector1">
            <a:avLst/>
          </a:prstGeom>
          <a:noFill/>
          <a:ln w="1905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2" name="Google Shape;42;p9"/>
          <p:cNvSpPr txBox="1">
            <a:spLocks noGrp="1"/>
          </p:cNvSpPr>
          <p:nvPr>
            <p:ph type="title"/>
          </p:nvPr>
        </p:nvSpPr>
        <p:spPr>
          <a:xfrm>
            <a:off x="265500" y="1382350"/>
            <a:ext cx="4045200" cy="133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 sz="42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●"/>
              <a:defRPr>
                <a:solidFill>
                  <a:schemeClr val="accen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>
                <a:solidFill>
                  <a:schemeClr val="accen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○"/>
              <a:defRPr>
                <a:solidFill>
                  <a:schemeClr val="accen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■"/>
              <a:defRPr>
                <a:solidFill>
                  <a:schemeClr val="accent1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accent1"/>
                </a:solidFill>
              </a:defRPr>
            </a:lvl1pPr>
            <a:lvl2pPr lvl="1">
              <a:buNone/>
              <a:defRPr>
                <a:solidFill>
                  <a:schemeClr val="accent1"/>
                </a:solidFill>
              </a:defRPr>
            </a:lvl2pPr>
            <a:lvl3pPr lvl="2">
              <a:buNone/>
              <a:defRPr>
                <a:solidFill>
                  <a:schemeClr val="accent1"/>
                </a:solidFill>
              </a:defRPr>
            </a:lvl3pPr>
            <a:lvl4pPr lvl="3">
              <a:buNone/>
              <a:defRPr>
                <a:solidFill>
                  <a:schemeClr val="accent1"/>
                </a:solidFill>
              </a:defRPr>
            </a:lvl4pPr>
            <a:lvl5pPr lvl="4">
              <a:buNone/>
              <a:defRPr>
                <a:solidFill>
                  <a:schemeClr val="accent1"/>
                </a:solidFill>
              </a:defRPr>
            </a:lvl5pPr>
            <a:lvl6pPr lvl="5">
              <a:buNone/>
              <a:defRPr>
                <a:solidFill>
                  <a:schemeClr val="accent1"/>
                </a:solidFill>
              </a:defRPr>
            </a:lvl6pPr>
            <a:lvl7pPr lvl="6">
              <a:buNone/>
              <a:defRPr>
                <a:solidFill>
                  <a:schemeClr val="accent1"/>
                </a:solidFill>
              </a:defRPr>
            </a:lvl7pPr>
            <a:lvl8pPr lvl="7">
              <a:buNone/>
              <a:defRPr>
                <a:solidFill>
                  <a:schemeClr val="accent1"/>
                </a:solidFill>
              </a:defRPr>
            </a:lvl8pPr>
            <a:lvl9pPr lvl="8">
              <a:buNone/>
              <a:defRPr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8" name="Google Shape;4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039650"/>
            <a:ext cx="8520600" cy="210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None/>
              <a:defRPr sz="14000" b="1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とコンテンツ" type="obj">
  <p:cSld name="OBJECT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body" idx="1"/>
          </p:nvPr>
        </p:nvSpPr>
        <p:spPr>
          <a:xfrm>
            <a:off x="827484" y="1539689"/>
            <a:ext cx="6710100" cy="31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9845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1pPr>
            <a:lvl2pPr marL="914400" lvl="1" indent="-29845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 algn="l">
              <a:spcBef>
                <a:spcPts val="8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 algn="l">
              <a:spcBef>
                <a:spcPts val="8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 algn="l">
              <a:spcBef>
                <a:spcPts val="80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dt" idx="10"/>
          </p:nvPr>
        </p:nvSpPr>
        <p:spPr>
          <a:xfrm rot="5400000">
            <a:off x="7616654" y="1343101"/>
            <a:ext cx="7431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ftr" idx="11"/>
          </p:nvPr>
        </p:nvSpPr>
        <p:spPr>
          <a:xfrm rot="5400000">
            <a:off x="6713603" y="2419050"/>
            <a:ext cx="2895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ldNum" idx="12"/>
          </p:nvPr>
        </p:nvSpPr>
        <p:spPr>
          <a:xfrm>
            <a:off x="7764405" y="221797"/>
            <a:ext cx="6288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0" lvl="0" indent="0" algn="ctr">
              <a:spcBef>
                <a:spcPts val="0"/>
              </a:spcBef>
              <a:buNone/>
              <a:defRPr/>
            </a:lvl1pPr>
            <a:lvl2pPr marL="0" lvl="1" indent="0" algn="ctr">
              <a:spcBef>
                <a:spcPts val="0"/>
              </a:spcBef>
              <a:buNone/>
              <a:defRPr/>
            </a:lvl2pPr>
            <a:lvl3pPr marL="0" lvl="2" indent="0" algn="ctr">
              <a:spcBef>
                <a:spcPts val="0"/>
              </a:spcBef>
              <a:buNone/>
              <a:defRPr/>
            </a:lvl3pPr>
            <a:lvl4pPr marL="0" lvl="3" indent="0" algn="ctr">
              <a:spcBef>
                <a:spcPts val="0"/>
              </a:spcBef>
              <a:buNone/>
              <a:defRPr/>
            </a:lvl4pPr>
            <a:lvl5pPr marL="0" lvl="4" indent="0" algn="ctr">
              <a:spcBef>
                <a:spcPts val="0"/>
              </a:spcBef>
              <a:buNone/>
              <a:defRPr/>
            </a:lvl5pPr>
            <a:lvl6pPr marL="0" lvl="5" indent="0" algn="ctr">
              <a:spcBef>
                <a:spcPts val="0"/>
              </a:spcBef>
              <a:buNone/>
              <a:defRPr/>
            </a:lvl6pPr>
            <a:lvl7pPr marL="0" lvl="6" indent="0" algn="ctr">
              <a:spcBef>
                <a:spcPts val="0"/>
              </a:spcBef>
              <a:buNone/>
              <a:defRPr/>
            </a:lvl7pPr>
            <a:lvl8pPr marL="0" lvl="7" indent="0" algn="ctr">
              <a:spcBef>
                <a:spcPts val="0"/>
              </a:spcBef>
              <a:buNone/>
              <a:defRPr/>
            </a:lvl8pPr>
            <a:lvl9pPr marL="0" lvl="8" indent="0" algn="ctr">
              <a:spcBef>
                <a:spcPts val="0"/>
              </a:spcBef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paperback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6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ld Standard TT"/>
              <a:buNone/>
              <a:defRPr sz="3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71600"/>
            <a:ext cx="8520600" cy="33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ld Standard TT"/>
              <a:buChar char="●"/>
              <a:defRPr sz="18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●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○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ld Standard TT"/>
              <a:buChar char="■"/>
              <a:defRPr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Old Standard TT"/>
                <a:ea typeface="Old Standard TT"/>
                <a:cs typeface="Old Standard TT"/>
                <a:sym typeface="Old Standard T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>
            <a:extLst>
              <a:ext uri="{FF2B5EF4-FFF2-40B4-BE49-F238E27FC236}">
                <a16:creationId xmlns:a16="http://schemas.microsoft.com/office/drawing/2014/main" id="{2CCFCA09-003D-4009-A9D7-5EB1B9E26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52550" cy="5143500"/>
          </a:xfrm>
          <a:prstGeom prst="rect">
            <a:avLst/>
          </a:prstGeom>
        </p:spPr>
      </p:pic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90CDC88E-A134-47F5-8A4F-39DF88EA55F9}"/>
              </a:ext>
            </a:extLst>
          </p:cNvPr>
          <p:cNvSpPr/>
          <p:nvPr/>
        </p:nvSpPr>
        <p:spPr>
          <a:xfrm>
            <a:off x="194400" y="1634400"/>
            <a:ext cx="5443200" cy="22463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buClr>
                <a:srgbClr val="00B0F0"/>
              </a:buClr>
              <a:buSzPts val="3600"/>
              <a:buFont typeface="Meiryo"/>
              <a:buNone/>
            </a:pPr>
            <a:r>
              <a:rPr lang="ja-JP" altLang="en-US" sz="2000" dirty="0">
                <a:solidFill>
                  <a:schemeClr val="tx1"/>
                </a:solidFill>
                <a:latin typeface="Meiryo"/>
                <a:ea typeface="Meiryo"/>
                <a:cs typeface="Meiryo"/>
                <a:sym typeface="Meiryo"/>
              </a:rPr>
              <a:t>タイトル：嘘情報</a:t>
            </a:r>
            <a:r>
              <a:rPr lang="en-US" altLang="ja-JP" sz="2000" dirty="0">
                <a:solidFill>
                  <a:schemeClr val="tx1"/>
                </a:solidFill>
                <a:latin typeface="Meiryo"/>
                <a:ea typeface="Meiryo"/>
                <a:cs typeface="Meiryo"/>
                <a:sym typeface="Meiryo"/>
              </a:rPr>
              <a:t>×</a:t>
            </a:r>
          </a:p>
          <a:p>
            <a:pPr>
              <a:buClr>
                <a:srgbClr val="00B0F0"/>
              </a:buClr>
              <a:buSzPts val="3600"/>
              <a:buFont typeface="Meiryo"/>
              <a:buNone/>
            </a:pPr>
            <a:endParaRPr lang="en-US" altLang="ja-JP" sz="2000" dirty="0">
              <a:solidFill>
                <a:schemeClr val="tx1"/>
              </a:solidFill>
              <a:latin typeface="Meiryo"/>
              <a:ea typeface="Meiryo"/>
              <a:cs typeface="Meiryo"/>
              <a:sym typeface="Meiryo"/>
            </a:endParaRPr>
          </a:p>
          <a:p>
            <a:pPr>
              <a:buClr>
                <a:srgbClr val="00B0F0"/>
              </a:buClr>
              <a:buSzPts val="3600"/>
              <a:buFont typeface="Meiryo"/>
              <a:buNone/>
            </a:pPr>
            <a:r>
              <a:rPr lang="ja-JP" altLang="en-US" sz="2000" dirty="0">
                <a:solidFill>
                  <a:schemeClr val="tx1"/>
                </a:solidFill>
                <a:latin typeface="Meiryo"/>
                <a:ea typeface="Meiryo"/>
                <a:cs typeface="Meiryo"/>
                <a:sym typeface="Meiryo"/>
              </a:rPr>
              <a:t>ジャンル名：</a:t>
            </a:r>
            <a:r>
              <a:rPr lang="en-US" altLang="ja-JP" sz="2000" dirty="0">
                <a:solidFill>
                  <a:schemeClr val="tx1"/>
                </a:solidFill>
                <a:latin typeface="Meiryo"/>
                <a:ea typeface="Meiryo"/>
                <a:cs typeface="Meiryo"/>
                <a:sym typeface="Meiryo"/>
              </a:rPr>
              <a:t>3D</a:t>
            </a:r>
            <a:r>
              <a:rPr lang="ja-JP" altLang="en-US" sz="2000" dirty="0">
                <a:solidFill>
                  <a:schemeClr val="tx1"/>
                </a:solidFill>
                <a:latin typeface="Meiryo"/>
                <a:ea typeface="Meiryo"/>
                <a:cs typeface="Meiryo"/>
                <a:sym typeface="Meiryo"/>
              </a:rPr>
              <a:t>情報判定アクションゲーム</a:t>
            </a:r>
            <a:br>
              <a:rPr lang="ja-JP" altLang="en-US" sz="2000" dirty="0">
                <a:solidFill>
                  <a:schemeClr val="tx1"/>
                </a:solidFill>
                <a:latin typeface="Meiryo"/>
                <a:ea typeface="Meiryo"/>
                <a:cs typeface="Meiryo"/>
                <a:sym typeface="Meiryo"/>
              </a:rPr>
            </a:br>
            <a:br>
              <a:rPr lang="ja-JP" altLang="en-US" sz="2000" dirty="0">
                <a:solidFill>
                  <a:schemeClr val="tx1"/>
                </a:solidFill>
                <a:latin typeface="Meiryo"/>
                <a:ea typeface="Meiryo"/>
                <a:cs typeface="Meiryo"/>
                <a:sym typeface="Meiryo"/>
              </a:rPr>
            </a:br>
            <a:r>
              <a:rPr lang="ja-JP" altLang="en-US" sz="2000" dirty="0">
                <a:solidFill>
                  <a:schemeClr val="tx1"/>
                </a:solidFill>
                <a:latin typeface="Meiryo"/>
                <a:ea typeface="Meiryo"/>
                <a:cs typeface="Meiryo"/>
                <a:sym typeface="Meiryo"/>
              </a:rPr>
              <a:t>キャッチフレーズ：嘘を見抜き、真実の目を</a:t>
            </a:r>
          </a:p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60A349EF-A972-4066-A77F-EA7DE5793F40}"/>
              </a:ext>
            </a:extLst>
          </p:cNvPr>
          <p:cNvSpPr/>
          <p:nvPr/>
        </p:nvSpPr>
        <p:spPr>
          <a:xfrm>
            <a:off x="6357600" y="3880799"/>
            <a:ext cx="2794950" cy="126270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SzPts val="1400"/>
              <a:buFont typeface="Old Standard TT"/>
              <a:buNone/>
            </a:pPr>
            <a:r>
              <a:rPr lang="zh-TW" altLang="en-US" sz="2000" dirty="0">
                <a:solidFill>
                  <a:schemeClr val="tx1"/>
                </a:solidFill>
                <a:latin typeface="Meiryo"/>
                <a:ea typeface="Meiryo"/>
                <a:cs typeface="Meiryo"/>
                <a:sym typeface="Meiryo"/>
              </a:rPr>
              <a:t>氏名　　　宮地悠梓</a:t>
            </a:r>
            <a:endParaRPr lang="zh-TW" altLang="en-US" sz="2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0419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422863" y="293363"/>
            <a:ext cx="2331300" cy="5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eiryo"/>
              <a:buNone/>
            </a:pPr>
            <a:r>
              <a:rPr lang="ja" dirty="0">
                <a:latin typeface="Meiryo"/>
                <a:ea typeface="Meiryo"/>
                <a:cs typeface="Meiryo"/>
                <a:sym typeface="Meiryo"/>
              </a:rPr>
              <a:t>ターゲット</a:t>
            </a:r>
            <a:endParaRPr dirty="0"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422874" y="877825"/>
            <a:ext cx="8539500" cy="39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 fontScale="77500" lnSpcReduction="20000"/>
          </a:bodyPr>
          <a:lstStyle/>
          <a:p>
            <a:pPr marL="254000" lvl="0" indent="-152400" algn="l" rtl="0">
              <a:spcBef>
                <a:spcPts val="0"/>
              </a:spcBef>
              <a:spcAft>
                <a:spcPts val="0"/>
              </a:spcAft>
              <a:buSzPct val="80000"/>
              <a:buNone/>
            </a:pPr>
            <a:endParaRPr sz="3000" dirty="0">
              <a:latin typeface="Meiryo"/>
              <a:ea typeface="Meiryo"/>
              <a:cs typeface="Meiryo"/>
              <a:sym typeface="Meiryo"/>
            </a:endParaRPr>
          </a:p>
          <a:p>
            <a:pPr marL="254000" lvl="0" indent="-270510" algn="l" rtl="0">
              <a:spcBef>
                <a:spcPts val="800"/>
              </a:spcBef>
              <a:spcAft>
                <a:spcPts val="0"/>
              </a:spcAft>
              <a:buSzPct val="80000"/>
              <a:buChar char="●"/>
            </a:pPr>
            <a:r>
              <a:rPr lang="ja" sz="3000" dirty="0">
                <a:latin typeface="Meiryo"/>
                <a:ea typeface="Meiryo"/>
                <a:cs typeface="Meiryo"/>
                <a:sym typeface="Meiryo"/>
              </a:rPr>
              <a:t>特徴</a:t>
            </a:r>
            <a:endParaRPr sz="3000" dirty="0"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ja-JP" sz="2300" dirty="0">
                <a:solidFill>
                  <a:srgbClr val="7030A0"/>
                </a:solidFill>
                <a:latin typeface="Meiryo"/>
                <a:ea typeface="Meiryo"/>
                <a:cs typeface="Meiryo"/>
                <a:sym typeface="Meiryo"/>
              </a:rPr>
              <a:t>‣</a:t>
            </a:r>
            <a:r>
              <a:rPr lang="en-US" altLang="ja" sz="2300" dirty="0">
                <a:solidFill>
                  <a:srgbClr val="7030A0"/>
                </a:solidFill>
                <a:latin typeface="Meiryo"/>
                <a:ea typeface="Meiryo"/>
                <a:cs typeface="Meiryo"/>
                <a:sym typeface="Meiryo"/>
              </a:rPr>
              <a:t>SNS</a:t>
            </a:r>
            <a:r>
              <a:rPr lang="ja-JP" altLang="en-US" sz="2300" dirty="0">
                <a:solidFill>
                  <a:srgbClr val="7030A0"/>
                </a:solidFill>
                <a:latin typeface="Meiryo"/>
                <a:ea typeface="Meiryo"/>
                <a:cs typeface="Meiryo"/>
                <a:sym typeface="Meiryo"/>
              </a:rPr>
              <a:t>やニュースサイトなど、日常的にインターネット上の情報に触れている人</a:t>
            </a:r>
            <a:r>
              <a:rPr lang="ja" sz="2300" dirty="0">
                <a:solidFill>
                  <a:srgbClr val="7030A0"/>
                </a:solidFill>
                <a:latin typeface="Meiryo"/>
                <a:ea typeface="Meiryo"/>
                <a:cs typeface="Meiryo"/>
                <a:sym typeface="Meiryo"/>
              </a:rPr>
              <a:t>。</a:t>
            </a:r>
            <a:endParaRPr lang="en-US" altLang="ja" sz="2300" dirty="0">
              <a:solidFill>
                <a:srgbClr val="7030A0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US" altLang="ja-JP" sz="2300" dirty="0">
                <a:solidFill>
                  <a:srgbClr val="7030A0"/>
                </a:solidFill>
                <a:latin typeface="Meiryo"/>
                <a:ea typeface="Meiryo"/>
                <a:cs typeface="Meiryo"/>
                <a:sym typeface="Meiryo"/>
              </a:rPr>
              <a:t>‣</a:t>
            </a:r>
            <a:r>
              <a:rPr lang="ja-JP" altLang="en-US" sz="2300" dirty="0">
                <a:solidFill>
                  <a:srgbClr val="7030A0"/>
                </a:solidFill>
                <a:latin typeface="Meiryo"/>
                <a:ea typeface="Meiryo"/>
                <a:cs typeface="Meiryo"/>
                <a:sym typeface="Meiryo"/>
              </a:rPr>
              <a:t>スコアアタック形式のゲームを好む人。</a:t>
            </a:r>
            <a:endParaRPr lang="en-US" altLang="ja-JP" sz="2300" dirty="0">
              <a:solidFill>
                <a:srgbClr val="7030A0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lang="ja-JP" altLang="en-US" sz="2400" dirty="0">
              <a:solidFill>
                <a:srgbClr val="7030A0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254000" lvl="0" indent="-270510" algn="l" rtl="0">
              <a:spcBef>
                <a:spcPts val="800"/>
              </a:spcBef>
              <a:spcAft>
                <a:spcPts val="0"/>
              </a:spcAft>
              <a:buSzPct val="80000"/>
              <a:buChar char="●"/>
            </a:pPr>
            <a:r>
              <a:rPr lang="ja-JP" altLang="en-US" sz="3000" dirty="0">
                <a:latin typeface="Meiryo"/>
                <a:ea typeface="Meiryo"/>
                <a:cs typeface="Meiryo"/>
                <a:sym typeface="Meiryo"/>
              </a:rPr>
              <a:t>年齢</a:t>
            </a: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SzPct val="80851"/>
              <a:buNone/>
            </a:pPr>
            <a:r>
              <a:rPr lang="en-US" altLang="ja-JP" sz="2350" dirty="0">
                <a:solidFill>
                  <a:srgbClr val="7030A0"/>
                </a:solidFill>
                <a:latin typeface="Meiryo"/>
                <a:ea typeface="Meiryo"/>
                <a:cs typeface="Meiryo"/>
                <a:sym typeface="Meiryo"/>
              </a:rPr>
              <a:t>‣</a:t>
            </a:r>
            <a:r>
              <a:rPr lang="ja" sz="2350" dirty="0">
                <a:solidFill>
                  <a:srgbClr val="7030A0"/>
                </a:solidFill>
                <a:latin typeface="Meiryo"/>
                <a:ea typeface="Meiryo"/>
                <a:cs typeface="Meiryo"/>
                <a:sym typeface="Meiryo"/>
              </a:rPr>
              <a:t>10代後半～</a:t>
            </a:r>
            <a:r>
              <a:rPr lang="en-US" altLang="ja" sz="2350" dirty="0">
                <a:solidFill>
                  <a:srgbClr val="7030A0"/>
                </a:solidFill>
                <a:latin typeface="Meiryo"/>
                <a:ea typeface="Meiryo"/>
                <a:cs typeface="Meiryo"/>
                <a:sym typeface="Meiryo"/>
              </a:rPr>
              <a:t>3</a:t>
            </a:r>
            <a:r>
              <a:rPr lang="ja" sz="2350" dirty="0">
                <a:solidFill>
                  <a:srgbClr val="7030A0"/>
                </a:solidFill>
                <a:latin typeface="Meiryo"/>
                <a:ea typeface="Meiryo"/>
                <a:cs typeface="Meiryo"/>
                <a:sym typeface="Meiryo"/>
              </a:rPr>
              <a:t>0代</a:t>
            </a:r>
            <a:r>
              <a:rPr lang="ja-JP" altLang="en-US" sz="2350" dirty="0">
                <a:solidFill>
                  <a:srgbClr val="7030A0"/>
                </a:solidFill>
                <a:latin typeface="Meiryo"/>
                <a:ea typeface="Meiryo"/>
                <a:cs typeface="Meiryo"/>
                <a:sym typeface="Meiryo"/>
              </a:rPr>
              <a:t>の男女。</a:t>
            </a:r>
            <a:endParaRPr sz="2350" dirty="0">
              <a:solidFill>
                <a:srgbClr val="7030A0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SzPct val="94391"/>
              <a:buNone/>
            </a:pPr>
            <a:endParaRPr sz="2013" dirty="0">
              <a:latin typeface="Meiryo"/>
              <a:ea typeface="Meiryo"/>
              <a:cs typeface="Meiryo"/>
              <a:sym typeface="Meiryo"/>
            </a:endParaRPr>
          </a:p>
          <a:p>
            <a:pPr marL="254000" lvl="0" indent="-270510" algn="l" rtl="0">
              <a:spcBef>
                <a:spcPts val="800"/>
              </a:spcBef>
              <a:spcAft>
                <a:spcPts val="0"/>
              </a:spcAft>
              <a:buSzPct val="80000"/>
              <a:buChar char="●"/>
            </a:pPr>
            <a:r>
              <a:rPr lang="ja" sz="3000" dirty="0">
                <a:latin typeface="Meiryo"/>
                <a:ea typeface="Meiryo"/>
                <a:cs typeface="Meiryo"/>
                <a:sym typeface="Meiryo"/>
              </a:rPr>
              <a:t>ニーズ</a:t>
            </a:r>
            <a:endParaRPr lang="ja" altLang="en-US" sz="3000" dirty="0"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SzPct val="82609"/>
              <a:buNone/>
            </a:pPr>
            <a:r>
              <a:rPr lang="en-US" altLang="ja-JP" sz="2300" dirty="0">
                <a:solidFill>
                  <a:srgbClr val="7030A0"/>
                </a:solidFill>
                <a:latin typeface="Meiryo"/>
                <a:ea typeface="Meiryo"/>
                <a:cs typeface="Meiryo"/>
                <a:sym typeface="Meiryo"/>
              </a:rPr>
              <a:t>‣</a:t>
            </a:r>
            <a:r>
              <a:rPr lang="ja-JP" altLang="en-US" sz="2300" dirty="0">
                <a:solidFill>
                  <a:srgbClr val="7030A0"/>
                </a:solidFill>
                <a:latin typeface="Meiryo"/>
                <a:ea typeface="Meiryo"/>
                <a:cs typeface="Meiryo"/>
                <a:sym typeface="Meiryo"/>
              </a:rPr>
              <a:t>限られた時間の中で情報の真偽を判断し、自分の見極める力を試したい</a:t>
            </a:r>
          </a:p>
        </p:txBody>
      </p:sp>
      <p:pic>
        <p:nvPicPr>
          <p:cNvPr id="6" name="Google Shape;92;p17" title="target.jpg">
            <a:extLst>
              <a:ext uri="{FF2B5EF4-FFF2-40B4-BE49-F238E27FC236}">
                <a16:creationId xmlns:a16="http://schemas.microsoft.com/office/drawing/2014/main" id="{6CE1F1CB-8FC6-4A67-ABC8-F917121CF5A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01651" y="2223326"/>
            <a:ext cx="2042349" cy="2042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877D2235-7016-48F0-9C5D-B348F74962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4051" y="2519618"/>
            <a:ext cx="1857793" cy="1438291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75D9675-377B-45F8-B3BA-763A3943E2B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91006" y="151870"/>
            <a:ext cx="1641793" cy="1641793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D577646F-EFE0-4141-8291-0D5639BFA88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1651" y="164003"/>
            <a:ext cx="1619475" cy="16296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>
            <a:spLocks noGrp="1"/>
          </p:cNvSpPr>
          <p:nvPr>
            <p:ph type="title"/>
          </p:nvPr>
        </p:nvSpPr>
        <p:spPr>
          <a:xfrm>
            <a:off x="614934" y="281178"/>
            <a:ext cx="2320800" cy="4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Meiryo"/>
              <a:buNone/>
            </a:pPr>
            <a:r>
              <a:rPr lang="ja">
                <a:latin typeface="Meiryo"/>
                <a:ea typeface="Meiryo"/>
                <a:cs typeface="Meiryo"/>
                <a:sym typeface="Meiryo"/>
              </a:rPr>
              <a:t>コンセプト</a:t>
            </a:r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body" idx="1"/>
          </p:nvPr>
        </p:nvSpPr>
        <p:spPr>
          <a:xfrm>
            <a:off x="614925" y="1013775"/>
            <a:ext cx="4279804" cy="91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1" indent="0" algn="l" rtl="0">
              <a:spcBef>
                <a:spcPts val="0"/>
              </a:spcBef>
              <a:spcAft>
                <a:spcPts val="0"/>
              </a:spcAft>
              <a:buSzPts val="1200"/>
              <a:buNone/>
            </a:pPr>
            <a:r>
              <a:rPr lang="ja-JP" altLang="en-US" sz="1800" dirty="0">
                <a:solidFill>
                  <a:srgbClr val="4A86E8"/>
                </a:solidFill>
                <a:latin typeface="Meiryo"/>
                <a:ea typeface="Meiryo"/>
                <a:cs typeface="Meiryo"/>
                <a:sym typeface="Meiryo"/>
              </a:rPr>
              <a:t>情報の真偽を見極めることで</a:t>
            </a:r>
            <a:r>
              <a:rPr lang="ja" sz="1800" dirty="0">
                <a:solidFill>
                  <a:srgbClr val="4A86E8"/>
                </a:solidFill>
                <a:latin typeface="Meiryo"/>
                <a:ea typeface="Meiryo"/>
                <a:cs typeface="Meiryo"/>
                <a:sym typeface="Meiryo"/>
              </a:rPr>
              <a:t>、</a:t>
            </a:r>
            <a:endParaRPr sz="1800" dirty="0">
              <a:solidFill>
                <a:srgbClr val="4A86E8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lvl="1" indent="0" algn="l" rtl="0">
              <a:spcBef>
                <a:spcPts val="800"/>
              </a:spcBef>
              <a:spcAft>
                <a:spcPts val="0"/>
              </a:spcAft>
              <a:buSzPts val="1200"/>
              <a:buNone/>
            </a:pPr>
            <a:r>
              <a:rPr lang="ja-JP" altLang="en-US" sz="1800" dirty="0">
                <a:solidFill>
                  <a:srgbClr val="980000"/>
                </a:solidFill>
                <a:latin typeface="Meiryo"/>
                <a:ea typeface="Meiryo"/>
                <a:cs typeface="Meiryo"/>
                <a:sym typeface="Meiryo"/>
              </a:rPr>
              <a:t>判断力を鍛えることができる</a:t>
            </a:r>
            <a:r>
              <a:rPr lang="ja" sz="1800" dirty="0">
                <a:solidFill>
                  <a:srgbClr val="980000"/>
                </a:solidFill>
                <a:latin typeface="Meiryo"/>
                <a:ea typeface="Meiryo"/>
                <a:cs typeface="Meiryo"/>
                <a:sym typeface="Meiryo"/>
              </a:rPr>
              <a:t>。</a:t>
            </a:r>
            <a:endParaRPr sz="2000" dirty="0">
              <a:solidFill>
                <a:srgbClr val="9900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614925" y="4005075"/>
            <a:ext cx="3336600" cy="44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1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ja" sz="1700" dirty="0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・一言で言うとそれは何か？</a:t>
            </a:r>
            <a:endParaRPr sz="20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614925" y="4477275"/>
            <a:ext cx="5201100" cy="694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1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ja-JP" altLang="en-US" sz="2300" dirty="0">
                <a:solidFill>
                  <a:srgbClr val="9900FF"/>
                </a:solidFill>
                <a:latin typeface="Meiryo"/>
                <a:ea typeface="Meiryo"/>
                <a:cs typeface="Meiryo"/>
                <a:sym typeface="Meiryo"/>
              </a:rPr>
              <a:t>嘘を見抜く爽快感！！</a:t>
            </a:r>
            <a:endParaRPr lang="en-US" altLang="ja" sz="2300" dirty="0">
              <a:solidFill>
                <a:srgbClr val="9900FF"/>
              </a:solidFill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614924" y="3049725"/>
            <a:ext cx="6229629" cy="102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1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sz="1800" dirty="0">
                <a:solidFill>
                  <a:srgbClr val="4A86E8"/>
                </a:solidFill>
                <a:latin typeface="Meiryo"/>
                <a:ea typeface="Meiryo"/>
                <a:cs typeface="Meiryo"/>
                <a:sym typeface="Meiryo"/>
              </a:rPr>
              <a:t>プレイで得たポイントを使って能力を強化することで</a:t>
            </a:r>
            <a:r>
              <a:rPr lang="ja" sz="1800" dirty="0">
                <a:solidFill>
                  <a:srgbClr val="4A86E8"/>
                </a:solidFill>
                <a:latin typeface="Meiryo"/>
                <a:ea typeface="Meiryo"/>
                <a:cs typeface="Meiryo"/>
                <a:sym typeface="Meiryo"/>
              </a:rPr>
              <a:t>、</a:t>
            </a:r>
            <a:endParaRPr sz="1800" dirty="0">
              <a:solidFill>
                <a:srgbClr val="4A86E8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lvl="1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ja-JP" altLang="en-US" sz="1800" dirty="0">
                <a:solidFill>
                  <a:srgbClr val="980000"/>
                </a:solidFill>
                <a:latin typeface="Meiryo"/>
                <a:ea typeface="Meiryo"/>
                <a:cs typeface="Meiryo"/>
                <a:sym typeface="Meiryo"/>
              </a:rPr>
              <a:t>自分の成長を実感することができる</a:t>
            </a:r>
            <a:r>
              <a:rPr lang="ja" sz="1800" dirty="0">
                <a:solidFill>
                  <a:srgbClr val="980000"/>
                </a:solidFill>
                <a:latin typeface="Meiryo"/>
                <a:ea typeface="Meiryo"/>
                <a:cs typeface="Meiryo"/>
                <a:sym typeface="Meiryo"/>
              </a:rPr>
              <a:t>。</a:t>
            </a:r>
            <a:endParaRPr sz="17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614924" y="1952903"/>
            <a:ext cx="5974134" cy="1026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1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ja-JP" altLang="en-US" sz="1800" dirty="0">
                <a:solidFill>
                  <a:srgbClr val="4A86E8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限られた時間の中で多数の情報を処理することにより</a:t>
            </a:r>
            <a:r>
              <a:rPr lang="ja" sz="1800" dirty="0">
                <a:solidFill>
                  <a:srgbClr val="4A86E8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、</a:t>
            </a:r>
            <a:endParaRPr sz="1800" dirty="0">
              <a:solidFill>
                <a:srgbClr val="4A86E8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Old Standard TT"/>
              <a:sym typeface="Old Standard TT"/>
            </a:endParaRPr>
          </a:p>
          <a:p>
            <a:pPr marL="0" lvl="1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r>
              <a:rPr lang="ja-JP" altLang="en-US" sz="1800" dirty="0">
                <a:solidFill>
                  <a:srgbClr val="98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情報を素早く正確に処理する力が身に付く</a:t>
            </a:r>
            <a:r>
              <a:rPr lang="ja" sz="1800" dirty="0">
                <a:solidFill>
                  <a:srgbClr val="98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Meiryo"/>
                <a:sym typeface="Meiryo"/>
              </a:rPr>
              <a:t>。</a:t>
            </a:r>
            <a:endParaRPr sz="1700" dirty="0">
              <a:solidFill>
                <a:schemeClr val="dk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Old Standard TT"/>
              <a:sym typeface="Old Standard TT"/>
            </a:endParaRP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DBCF6F58-129F-401D-9FAA-7CFE5A0F7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0658" y="766278"/>
            <a:ext cx="2459988" cy="3928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>
            <a:spLocks noGrp="1"/>
          </p:cNvSpPr>
          <p:nvPr>
            <p:ph type="title"/>
          </p:nvPr>
        </p:nvSpPr>
        <p:spPr>
          <a:xfrm>
            <a:off x="484575" y="339546"/>
            <a:ext cx="7053600" cy="6948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" dirty="0">
                <a:latin typeface="Meiryo"/>
                <a:ea typeface="Meiryo"/>
                <a:cs typeface="Meiryo"/>
                <a:sym typeface="Meiryo"/>
              </a:rPr>
              <a:t>ゲームの流れ</a:t>
            </a:r>
            <a:endParaRPr dirty="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77" name="Google Shape;77;p16"/>
          <p:cNvSpPr txBox="1">
            <a:spLocks noGrp="1"/>
          </p:cNvSpPr>
          <p:nvPr>
            <p:ph type="body" idx="1"/>
          </p:nvPr>
        </p:nvSpPr>
        <p:spPr>
          <a:xfrm>
            <a:off x="484575" y="1148450"/>
            <a:ext cx="6159000" cy="4617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 lnSpcReduction="10000"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dirty="0">
                <a:latin typeface="Meiryo"/>
                <a:ea typeface="Meiryo"/>
                <a:cs typeface="Meiryo"/>
                <a:sym typeface="Meiryo"/>
              </a:rPr>
              <a:t>①政府から正しい情報を記憶する。</a:t>
            </a:r>
            <a:endParaRPr dirty="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81" name="Google Shape;81;p16"/>
          <p:cNvSpPr txBox="1"/>
          <p:nvPr/>
        </p:nvSpPr>
        <p:spPr>
          <a:xfrm>
            <a:off x="465524" y="1476975"/>
            <a:ext cx="8570899" cy="605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altLang="en-US" sz="1800" dirty="0">
                <a:solidFill>
                  <a:schemeClr val="dk1"/>
                </a:solidFill>
                <a:latin typeface="Meiryo"/>
                <a:ea typeface="Meiryo"/>
                <a:cs typeface="Old Standard TT"/>
                <a:sym typeface="Meiryo"/>
              </a:rPr>
              <a:t>②仮想空間を探索する。</a:t>
            </a:r>
            <a:endParaRPr sz="18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2" name="Google Shape;82;p16"/>
          <p:cNvSpPr txBox="1"/>
          <p:nvPr/>
        </p:nvSpPr>
        <p:spPr>
          <a:xfrm>
            <a:off x="465524" y="1882981"/>
            <a:ext cx="8046463" cy="605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altLang="en-US" sz="1800" dirty="0">
                <a:solidFill>
                  <a:schemeClr val="dk1"/>
                </a:solidFill>
                <a:latin typeface="Meiryo"/>
                <a:ea typeface="Meiryo"/>
                <a:cs typeface="Old Standard TT"/>
                <a:sym typeface="Meiryo"/>
              </a:rPr>
              <a:t>③気になる情報へ向かう。</a:t>
            </a:r>
            <a:endParaRPr sz="18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3" name="Google Shape;83;p16"/>
          <p:cNvSpPr txBox="1"/>
          <p:nvPr/>
        </p:nvSpPr>
        <p:spPr>
          <a:xfrm>
            <a:off x="465524" y="2268861"/>
            <a:ext cx="6957252" cy="605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ja-JP" altLang="en-US" sz="1800" dirty="0">
                <a:solidFill>
                  <a:schemeClr val="dk1"/>
                </a:solidFill>
                <a:latin typeface="Meiryo"/>
                <a:ea typeface="Meiryo"/>
                <a:cs typeface="Old Standard TT"/>
                <a:sym typeface="Meiryo"/>
              </a:rPr>
              <a:t>④情報を読み込み、記憶している正しい情報と照合する。</a:t>
            </a:r>
            <a:endParaRPr sz="18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4" name="Google Shape;84;p16"/>
          <p:cNvSpPr txBox="1"/>
          <p:nvPr/>
        </p:nvSpPr>
        <p:spPr>
          <a:xfrm>
            <a:off x="465524" y="2674867"/>
            <a:ext cx="7053600" cy="605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sz="1800" dirty="0">
                <a:solidFill>
                  <a:schemeClr val="dk1"/>
                </a:solidFill>
                <a:latin typeface="Meiryo"/>
                <a:ea typeface="Meiryo"/>
                <a:cs typeface="Old Standard TT"/>
                <a:sym typeface="Meiryo"/>
              </a:rPr>
              <a:t>⑤嘘情報を削除して、ポイントを獲得する。</a:t>
            </a:r>
            <a:endParaRPr sz="18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8" name="Google Shape;84;p16">
            <a:extLst>
              <a:ext uri="{FF2B5EF4-FFF2-40B4-BE49-F238E27FC236}">
                <a16:creationId xmlns:a16="http://schemas.microsoft.com/office/drawing/2014/main" id="{09DB64ED-89BF-4022-BC5F-DDC7726CC762}"/>
              </a:ext>
            </a:extLst>
          </p:cNvPr>
          <p:cNvSpPr txBox="1"/>
          <p:nvPr/>
        </p:nvSpPr>
        <p:spPr>
          <a:xfrm>
            <a:off x="484575" y="3060747"/>
            <a:ext cx="7053600" cy="605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sz="1800" dirty="0">
                <a:solidFill>
                  <a:schemeClr val="dk1"/>
                </a:solidFill>
                <a:latin typeface="Meiryo"/>
                <a:ea typeface="Meiryo"/>
                <a:cs typeface="Old Standard TT"/>
                <a:sym typeface="Meiryo"/>
              </a:rPr>
              <a:t>⑥制限時間内に、できるだけ多くの嘘情報を見抜く。</a:t>
            </a:r>
            <a:endParaRPr sz="18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9" name="Google Shape;84;p16">
            <a:extLst>
              <a:ext uri="{FF2B5EF4-FFF2-40B4-BE49-F238E27FC236}">
                <a16:creationId xmlns:a16="http://schemas.microsoft.com/office/drawing/2014/main" id="{326CF29D-2079-4150-8079-9EC514014336}"/>
              </a:ext>
            </a:extLst>
          </p:cNvPr>
          <p:cNvSpPr txBox="1"/>
          <p:nvPr/>
        </p:nvSpPr>
        <p:spPr>
          <a:xfrm>
            <a:off x="484575" y="3389273"/>
            <a:ext cx="7053600" cy="605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sz="1800" dirty="0">
                <a:solidFill>
                  <a:schemeClr val="dk1"/>
                </a:solidFill>
                <a:latin typeface="Meiryo"/>
                <a:ea typeface="Meiryo"/>
                <a:cs typeface="Old Standard TT"/>
                <a:sym typeface="Meiryo"/>
              </a:rPr>
              <a:t>⑦制限時間終了後、スコアを確認する。</a:t>
            </a:r>
            <a:endParaRPr sz="18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0" name="Google Shape;84;p16">
            <a:extLst>
              <a:ext uri="{FF2B5EF4-FFF2-40B4-BE49-F238E27FC236}">
                <a16:creationId xmlns:a16="http://schemas.microsoft.com/office/drawing/2014/main" id="{2949AF6C-EEE0-48FC-8425-6772B29BE5D9}"/>
              </a:ext>
            </a:extLst>
          </p:cNvPr>
          <p:cNvSpPr txBox="1"/>
          <p:nvPr/>
        </p:nvSpPr>
        <p:spPr>
          <a:xfrm>
            <a:off x="484575" y="3777479"/>
            <a:ext cx="7053600" cy="605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sz="1800" dirty="0">
                <a:solidFill>
                  <a:schemeClr val="dk1"/>
                </a:solidFill>
                <a:latin typeface="Meiryo"/>
                <a:ea typeface="Meiryo"/>
                <a:cs typeface="Old Standard TT"/>
                <a:sym typeface="Meiryo"/>
              </a:rPr>
              <a:t>⑧ポイントを使って、主人公を強化する。</a:t>
            </a:r>
            <a:endParaRPr sz="18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11" name="Google Shape;84;p16">
            <a:extLst>
              <a:ext uri="{FF2B5EF4-FFF2-40B4-BE49-F238E27FC236}">
                <a16:creationId xmlns:a16="http://schemas.microsoft.com/office/drawing/2014/main" id="{E14E64D7-C407-4283-A90D-2117901DDAE7}"/>
              </a:ext>
            </a:extLst>
          </p:cNvPr>
          <p:cNvSpPr txBox="1"/>
          <p:nvPr/>
        </p:nvSpPr>
        <p:spPr>
          <a:xfrm>
            <a:off x="484575" y="4122993"/>
            <a:ext cx="7053600" cy="605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sz="1800" dirty="0">
                <a:solidFill>
                  <a:schemeClr val="dk1"/>
                </a:solidFill>
                <a:latin typeface="Meiryo"/>
                <a:ea typeface="Meiryo"/>
                <a:cs typeface="Old Standard TT"/>
                <a:sym typeface="Meiryo"/>
              </a:rPr>
              <a:t>⑨強化した状態で再びゲームを挑戦する。</a:t>
            </a:r>
            <a:endParaRPr sz="1800" dirty="0">
              <a:solidFill>
                <a:schemeClr val="dk1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</p:txBody>
      </p:sp>
      <p:sp>
        <p:nvSpPr>
          <p:cNvPr id="2" name="矢印: 上カーブ 1">
            <a:extLst>
              <a:ext uri="{FF2B5EF4-FFF2-40B4-BE49-F238E27FC236}">
                <a16:creationId xmlns:a16="http://schemas.microsoft.com/office/drawing/2014/main" id="{743A3847-679D-4166-99F4-8FE08926EC83}"/>
              </a:ext>
            </a:extLst>
          </p:cNvPr>
          <p:cNvSpPr/>
          <p:nvPr/>
        </p:nvSpPr>
        <p:spPr>
          <a:xfrm rot="15451548">
            <a:off x="4237788" y="1038888"/>
            <a:ext cx="3499853" cy="2899739"/>
          </a:xfrm>
          <a:prstGeom prst="curvedUpArrow">
            <a:avLst>
              <a:gd name="adj1" fmla="val 6091"/>
              <a:gd name="adj2" fmla="val 20683"/>
              <a:gd name="adj3" fmla="val 1784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000"/>
                                        <p:tgtEl>
                                          <p:spTgt spid="8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/>
                                        <p:tgtEl>
                                          <p:spTgt spid="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0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>
            <a:spLocks noGrp="1"/>
          </p:cNvSpPr>
          <p:nvPr>
            <p:ph type="title"/>
          </p:nvPr>
        </p:nvSpPr>
        <p:spPr>
          <a:xfrm>
            <a:off x="484572" y="339550"/>
            <a:ext cx="2796509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ゲームの目的</a:t>
            </a: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6" name="Google Shape;77;p16">
            <a:extLst>
              <a:ext uri="{FF2B5EF4-FFF2-40B4-BE49-F238E27FC236}">
                <a16:creationId xmlns:a16="http://schemas.microsoft.com/office/drawing/2014/main" id="{B700F232-4D4C-44BF-9ED5-2D803249E3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484574" y="1148450"/>
            <a:ext cx="8457719" cy="2240209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dirty="0">
                <a:latin typeface="Meiryo"/>
                <a:ea typeface="Meiryo"/>
                <a:cs typeface="Meiryo"/>
                <a:sym typeface="Meiryo"/>
              </a:rPr>
              <a:t>・制限時間内にできるだけ多くの嘘情報を見抜いて削除し、高得点を獲得する。</a:t>
            </a:r>
            <a:endParaRPr lang="en-US" altLang="ja-JP" dirty="0"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dirty="0">
                <a:latin typeface="Meiryo"/>
                <a:ea typeface="Meiryo"/>
                <a:cs typeface="Meiryo"/>
                <a:sym typeface="Meiryo"/>
              </a:rPr>
              <a:t>・獲得したポイントを使って、主人公の能力を強化し、より効率よく情報を処理　　　　　</a:t>
            </a:r>
            <a:endParaRPr lang="en-US" altLang="ja-JP" dirty="0"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dirty="0">
                <a:latin typeface="Meiryo"/>
                <a:ea typeface="Meiryo"/>
                <a:cs typeface="Meiryo"/>
                <a:sym typeface="Meiryo"/>
              </a:rPr>
              <a:t>　できるようにする。</a:t>
            </a:r>
            <a:endParaRPr lang="en-US" altLang="ja-JP" dirty="0"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dirty="0">
                <a:latin typeface="Meiryo"/>
                <a:ea typeface="Meiryo"/>
                <a:cs typeface="Meiryo"/>
                <a:sym typeface="Meiryo"/>
              </a:rPr>
              <a:t>・プレイスキルの向上と能力強化によってハイスコアを更新し、ランキング上位</a:t>
            </a:r>
            <a:endParaRPr lang="en-US" altLang="ja-JP" dirty="0"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dirty="0">
                <a:latin typeface="Meiryo"/>
                <a:ea typeface="Meiryo"/>
                <a:cs typeface="Meiryo"/>
                <a:sym typeface="Meiryo"/>
              </a:rPr>
              <a:t>　を目指す。</a:t>
            </a:r>
            <a:endParaRPr dirty="0">
              <a:latin typeface="Meiryo"/>
              <a:ea typeface="Meiryo"/>
              <a:cs typeface="Meiryo"/>
              <a:sym typeface="Meiryo"/>
            </a:endParaRPr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1CFCE7EC-3297-40F9-9D23-1C98EAF6EC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0625" y="3451539"/>
            <a:ext cx="2104575" cy="1576113"/>
          </a:xfrm>
          <a:prstGeom prst="rect">
            <a:avLst/>
          </a:prstGeom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D52735F-1238-45A5-B5F1-005A3D660F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73641" y="3000545"/>
            <a:ext cx="1768652" cy="2027108"/>
          </a:xfrm>
          <a:prstGeom prst="rect">
            <a:avLst/>
          </a:prstGeom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2DE40A3-AFDF-4FEF-B3A2-E0A267E099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2136" y="2775294"/>
            <a:ext cx="1861505" cy="18615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>
            <a:spLocks noGrp="1"/>
          </p:cNvSpPr>
          <p:nvPr>
            <p:ph type="title"/>
          </p:nvPr>
        </p:nvSpPr>
        <p:spPr>
          <a:xfrm>
            <a:off x="484573" y="339550"/>
            <a:ext cx="24852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Century Gothic"/>
              <a:buNone/>
            </a:pPr>
            <a:r>
              <a:rPr lang="ja" dirty="0">
                <a:latin typeface="メイリオ" panose="020B0604030504040204" pitchFamily="50" charset="-128"/>
                <a:ea typeface="メイリオ" panose="020B0604030504040204" pitchFamily="50" charset="-128"/>
              </a:rPr>
              <a:t>操作説明</a:t>
            </a:r>
            <a:endParaRPr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90" name="Google Shape;90;p17"/>
          <p:cNvSpPr txBox="1">
            <a:spLocks noGrp="1"/>
          </p:cNvSpPr>
          <p:nvPr>
            <p:ph type="body" idx="1"/>
          </p:nvPr>
        </p:nvSpPr>
        <p:spPr>
          <a:xfrm>
            <a:off x="484574" y="1080200"/>
            <a:ext cx="8215673" cy="3723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altLang="ja-JP" sz="2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‣</a:t>
            </a:r>
            <a:r>
              <a:rPr lang="ja" sz="2300" dirty="0">
                <a:solidFill>
                  <a:srgbClr val="99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W</a:t>
            </a:r>
            <a:r>
              <a:rPr lang="en-US" altLang="ja-JP" sz="2300" dirty="0">
                <a:solidFill>
                  <a:srgbClr val="99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ASD</a:t>
            </a:r>
            <a:r>
              <a:rPr lang="ja" sz="2300" dirty="0">
                <a:solidFill>
                  <a:srgbClr val="99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キー</a:t>
            </a:r>
            <a:r>
              <a:rPr lang="ja" sz="23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：</a:t>
            </a:r>
            <a:r>
              <a:rPr lang="ja-JP" altLang="en-US" sz="2300" dirty="0">
                <a:solidFill>
                  <a:srgbClr val="000000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プレイヤーの移動</a:t>
            </a:r>
            <a:endParaRPr lang="en-US" altLang="ja" sz="2300" dirty="0">
              <a:solidFill>
                <a:srgbClr val="000000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Century Gothic"/>
              <a:sym typeface="Century Gothic"/>
            </a:endParaRPr>
          </a:p>
          <a:p>
            <a:pPr marL="0" indent="0">
              <a:spcBef>
                <a:spcPts val="0"/>
              </a:spcBef>
              <a:buSzPts val="1900"/>
              <a:buNone/>
            </a:pPr>
            <a:r>
              <a:rPr lang="en-US" altLang="ja-JP" sz="2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‣</a:t>
            </a:r>
            <a:r>
              <a:rPr lang="en-US" altLang="ja-JP" sz="2300" dirty="0">
                <a:solidFill>
                  <a:srgbClr val="99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Esc</a:t>
            </a:r>
            <a:r>
              <a:rPr lang="ja-JP" altLang="en-US" sz="2300" dirty="0">
                <a:solidFill>
                  <a:srgbClr val="99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キー</a:t>
            </a:r>
            <a:r>
              <a:rPr lang="ja-JP" altLang="en-US" sz="2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：メニュー表示</a:t>
            </a:r>
            <a:endParaRPr lang="en-US" altLang="ja-JP" sz="23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Century Gothic"/>
              <a:sym typeface="Century Gothic"/>
            </a:endParaRPr>
          </a:p>
          <a:p>
            <a:pPr marL="0" indent="0">
              <a:spcBef>
                <a:spcPts val="0"/>
              </a:spcBef>
              <a:buSzPts val="1900"/>
              <a:buNone/>
            </a:pPr>
            <a:r>
              <a:rPr lang="en-US" altLang="ja-JP" sz="2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‣</a:t>
            </a:r>
            <a:r>
              <a:rPr lang="en-US" altLang="ja-JP" sz="2300" dirty="0">
                <a:solidFill>
                  <a:srgbClr val="99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Space</a:t>
            </a:r>
            <a:r>
              <a:rPr lang="ja-JP" altLang="en-US" sz="2300" dirty="0">
                <a:solidFill>
                  <a:srgbClr val="99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キー</a:t>
            </a:r>
            <a:r>
              <a:rPr lang="ja-JP" altLang="en-US" sz="2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：記事ウィンドウを閉じる</a:t>
            </a:r>
            <a:endParaRPr lang="en-US" altLang="ja-JP" sz="23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Century Gothic"/>
              <a:sym typeface="Century Gothic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900"/>
              <a:buNone/>
            </a:pPr>
            <a:r>
              <a:rPr lang="en-US" altLang="ja-JP" sz="2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‣</a:t>
            </a:r>
            <a:r>
              <a:rPr lang="ja-JP" altLang="en-US" sz="2300" dirty="0">
                <a:solidFill>
                  <a:srgbClr val="99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マウス</a:t>
            </a:r>
            <a:r>
              <a:rPr lang="ja-JP" altLang="en-US" sz="2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：視点操作</a:t>
            </a:r>
            <a:endParaRPr lang="en-US" altLang="ja-JP" sz="23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Century Gothic"/>
              <a:sym typeface="Century Gothic"/>
            </a:endParaRPr>
          </a:p>
          <a:p>
            <a:pPr marL="0" indent="0">
              <a:spcBef>
                <a:spcPts val="0"/>
              </a:spcBef>
              <a:buSzPts val="1900"/>
              <a:buNone/>
            </a:pPr>
            <a:r>
              <a:rPr lang="en-US" altLang="ja-JP" sz="2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‣</a:t>
            </a:r>
            <a:r>
              <a:rPr lang="ja-JP" altLang="en-US" sz="2300" dirty="0">
                <a:solidFill>
                  <a:srgbClr val="9900FF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左クリック</a:t>
            </a:r>
            <a:r>
              <a:rPr lang="ja-JP" altLang="en-US" sz="2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：嘘情報の削除（画面右上の</a:t>
            </a:r>
            <a:r>
              <a:rPr lang="en-US" altLang="ja-JP" sz="2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×</a:t>
            </a:r>
            <a:r>
              <a:rPr lang="ja-JP" altLang="en-US" sz="2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ボタンを押す）</a:t>
            </a:r>
            <a:endParaRPr lang="en-US" altLang="ja-JP" sz="23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Century Gothic"/>
              <a:sym typeface="Century Gothic"/>
            </a:endParaRPr>
          </a:p>
          <a:p>
            <a:pPr marL="0" indent="0">
              <a:spcBef>
                <a:spcPts val="0"/>
              </a:spcBef>
              <a:buSzPts val="1900"/>
              <a:buNone/>
            </a:pPr>
            <a:r>
              <a:rPr lang="ja-JP" altLang="en-US" sz="2300" dirty="0">
                <a:solidFill>
                  <a:schemeClr val="tx1"/>
                </a:solidFill>
                <a:latin typeface="メイリオ" panose="020B0604030504040204" pitchFamily="50" charset="-128"/>
                <a:ea typeface="メイリオ" panose="020B0604030504040204" pitchFamily="50" charset="-128"/>
                <a:cs typeface="Century Gothic"/>
                <a:sym typeface="Century Gothic"/>
              </a:rPr>
              <a:t>　　　</a:t>
            </a:r>
            <a:endParaRPr lang="en-US" altLang="ja-JP" sz="2300" dirty="0">
              <a:solidFill>
                <a:schemeClr val="tx1"/>
              </a:solidFill>
              <a:latin typeface="メイリオ" panose="020B0604030504040204" pitchFamily="50" charset="-128"/>
              <a:ea typeface="メイリオ" panose="020B0604030504040204" pitchFamily="50" charset="-128"/>
              <a:cs typeface="Century Gothic"/>
              <a:sym typeface="Century Gothic"/>
            </a:endParaRPr>
          </a:p>
        </p:txBody>
      </p:sp>
      <p:pic>
        <p:nvPicPr>
          <p:cNvPr id="4" name="Google Shape;111;p19" title="319fa27afd42ce501caff2a40189157f_t.jpg">
            <a:extLst>
              <a:ext uri="{FF2B5EF4-FFF2-40B4-BE49-F238E27FC236}">
                <a16:creationId xmlns:a16="http://schemas.microsoft.com/office/drawing/2014/main" id="{33602E52-34E0-43D3-A731-C1DB0202E7C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2173" y="3210800"/>
            <a:ext cx="4559126" cy="1935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129;p19" title="computer_mouse_top_wireless.png">
            <a:extLst>
              <a:ext uri="{FF2B5EF4-FFF2-40B4-BE49-F238E27FC236}">
                <a16:creationId xmlns:a16="http://schemas.microsoft.com/office/drawing/2014/main" id="{D449D7D7-667B-4C2B-8A8A-B611DF88D461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39560" y="3563225"/>
            <a:ext cx="1002425" cy="136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>
            <a:spLocks noGrp="1"/>
          </p:cNvSpPr>
          <p:nvPr>
            <p:ph type="title"/>
          </p:nvPr>
        </p:nvSpPr>
        <p:spPr>
          <a:xfrm>
            <a:off x="484583" y="339539"/>
            <a:ext cx="7053600" cy="1050300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dirty="0">
                <a:latin typeface="Meiryo"/>
                <a:ea typeface="Meiryo"/>
                <a:cs typeface="Meiryo"/>
                <a:sym typeface="Meiryo"/>
              </a:rPr>
              <a:t>ポイント</a:t>
            </a:r>
            <a:endParaRPr dirty="0">
              <a:latin typeface="Meiryo"/>
              <a:ea typeface="Meiryo"/>
              <a:cs typeface="Meiryo"/>
              <a:sym typeface="Meiryo"/>
            </a:endParaRPr>
          </a:p>
        </p:txBody>
      </p:sp>
      <p:sp>
        <p:nvSpPr>
          <p:cNvPr id="109" name="Google Shape;109;p20"/>
          <p:cNvSpPr txBox="1">
            <a:spLocks noGrp="1"/>
          </p:cNvSpPr>
          <p:nvPr>
            <p:ph type="body" idx="1"/>
          </p:nvPr>
        </p:nvSpPr>
        <p:spPr>
          <a:xfrm>
            <a:off x="484575" y="1110273"/>
            <a:ext cx="8174842" cy="4134079"/>
          </a:xfrm>
          <a:prstGeom prst="rect">
            <a:avLst/>
          </a:prstGeom>
        </p:spPr>
        <p:txBody>
          <a:bodyPr spcFirstLastPara="1" wrap="square" lIns="68575" tIns="34275" rIns="68575" bIns="34275" anchor="t" anchorCtr="0">
            <a:normAutofit/>
          </a:bodyPr>
          <a:lstStyle/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ja" dirty="0">
                <a:latin typeface="Meiryo"/>
                <a:ea typeface="Meiryo"/>
                <a:cs typeface="Meiryo"/>
                <a:sym typeface="Meiryo"/>
              </a:rPr>
              <a:t>‣</a:t>
            </a:r>
            <a:r>
              <a:rPr lang="ja-JP" altLang="en-US" dirty="0">
                <a:latin typeface="Meiryo"/>
                <a:ea typeface="Meiryo"/>
                <a:cs typeface="Meiryo"/>
                <a:sym typeface="Meiryo"/>
              </a:rPr>
              <a:t>嘘情報を削除するとポイントを獲得。</a:t>
            </a:r>
            <a:endParaRPr lang="en-US" altLang="ja-JP" dirty="0"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ja-JP" dirty="0">
                <a:latin typeface="Meiryo"/>
                <a:ea typeface="Meiryo"/>
                <a:cs typeface="Meiryo"/>
                <a:sym typeface="Meiryo"/>
              </a:rPr>
              <a:t>‣</a:t>
            </a:r>
            <a:r>
              <a:rPr lang="ja-JP" altLang="en-US" dirty="0">
                <a:latin typeface="Meiryo"/>
                <a:ea typeface="Meiryo"/>
                <a:cs typeface="Meiryo"/>
                <a:sym typeface="Meiryo"/>
              </a:rPr>
              <a:t>難易度の高い嘘情報ほど、多くのポイントを獲得することができる。</a:t>
            </a: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ja-JP" dirty="0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※</a:t>
            </a:r>
            <a:r>
              <a:rPr lang="ja-JP" altLang="en-US" dirty="0">
                <a:solidFill>
                  <a:srgbClr val="FF0000"/>
                </a:solidFill>
                <a:latin typeface="Meiryo"/>
                <a:ea typeface="Meiryo"/>
                <a:cs typeface="Meiryo"/>
                <a:sym typeface="Meiryo"/>
              </a:rPr>
              <a:t>ただし、真情報を削除した場合、ポイントが減少する。</a:t>
            </a:r>
            <a:endParaRPr lang="en-US" altLang="ja-JP" dirty="0">
              <a:solidFill>
                <a:srgbClr val="FF0000"/>
              </a:solidFill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ja-JP" dirty="0">
                <a:latin typeface="Meiryo"/>
                <a:ea typeface="Meiryo"/>
                <a:cs typeface="Meiryo"/>
                <a:sym typeface="Meiryo"/>
              </a:rPr>
              <a:t>‣</a:t>
            </a:r>
            <a:r>
              <a:rPr lang="ja-JP" altLang="en-US" dirty="0">
                <a:latin typeface="Meiryo"/>
                <a:ea typeface="Meiryo"/>
                <a:cs typeface="Meiryo"/>
                <a:sym typeface="Meiryo"/>
              </a:rPr>
              <a:t>ポイントを消費することで、主人公の能力を強化することが可能。</a:t>
            </a:r>
            <a:endParaRPr lang="en-US" altLang="ja-JP" dirty="0"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en-US" altLang="ja-JP" dirty="0">
                <a:latin typeface="Meiryo"/>
                <a:ea typeface="Meiryo"/>
                <a:cs typeface="Meiryo"/>
                <a:sym typeface="Meiryo"/>
              </a:rPr>
              <a:t>【</a:t>
            </a:r>
            <a:r>
              <a:rPr lang="ja-JP" altLang="en-US" dirty="0">
                <a:latin typeface="Meiryo"/>
                <a:ea typeface="Meiryo"/>
                <a:cs typeface="Meiryo"/>
                <a:sym typeface="Meiryo"/>
              </a:rPr>
              <a:t>能力強化の例</a:t>
            </a:r>
            <a:r>
              <a:rPr lang="en-US" altLang="ja-JP" dirty="0">
                <a:latin typeface="Meiryo"/>
                <a:ea typeface="Meiryo"/>
                <a:cs typeface="Meiryo"/>
                <a:sym typeface="Meiryo"/>
              </a:rPr>
              <a:t>】</a:t>
            </a: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dirty="0">
                <a:latin typeface="Meiryo"/>
                <a:ea typeface="Meiryo"/>
                <a:cs typeface="Meiryo"/>
                <a:sym typeface="Meiryo"/>
              </a:rPr>
              <a:t>　・記憶容量の拡張　</a:t>
            </a:r>
            <a:endParaRPr lang="en-US" altLang="ja-JP" dirty="0"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dirty="0">
                <a:latin typeface="Meiryo"/>
                <a:ea typeface="Meiryo"/>
                <a:cs typeface="Meiryo"/>
                <a:sym typeface="Meiryo"/>
              </a:rPr>
              <a:t>　・情報読み込み速度の上昇</a:t>
            </a:r>
            <a:endParaRPr lang="en-US" altLang="ja-JP" dirty="0">
              <a:latin typeface="Meiryo"/>
              <a:ea typeface="Meiryo"/>
              <a:cs typeface="Meiryo"/>
              <a:sym typeface="Meiryo"/>
            </a:endParaRPr>
          </a:p>
          <a:p>
            <a:pPr marL="0" lvl="0" indent="0" algn="l" rtl="0">
              <a:spcBef>
                <a:spcPts val="800"/>
              </a:spcBef>
              <a:spcAft>
                <a:spcPts val="0"/>
              </a:spcAft>
              <a:buNone/>
            </a:pPr>
            <a:r>
              <a:rPr lang="ja-JP" altLang="en-US" dirty="0">
                <a:latin typeface="Meiryo"/>
                <a:ea typeface="Meiryo"/>
                <a:cs typeface="Meiryo"/>
                <a:sym typeface="Meiryo"/>
              </a:rPr>
              <a:t>　・その他の能力強化</a:t>
            </a:r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2B7C20CA-7858-447D-85D2-8D0DF38068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2817" y="3040983"/>
            <a:ext cx="1658600" cy="2104194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7FF4C193-166C-4990-8D04-0FA10FA6DE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4183" y="3039306"/>
            <a:ext cx="2808000" cy="210754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Paperback">
  <a:themeElements>
    <a:clrScheme name="Paperback">
      <a:dk1>
        <a:srgbClr val="000000"/>
      </a:dk1>
      <a:lt1>
        <a:srgbClr val="FFFFFF"/>
      </a:lt1>
      <a:dk2>
        <a:srgbClr val="00695C"/>
      </a:dk2>
      <a:lt2>
        <a:srgbClr val="26A69A"/>
      </a:lt2>
      <a:accent1>
        <a:srgbClr val="FFFBF0"/>
      </a:accent1>
      <a:accent2>
        <a:srgbClr val="B7B7B7"/>
      </a:accent2>
      <a:accent3>
        <a:srgbClr val="FB8C00"/>
      </a:accent3>
      <a:accent4>
        <a:srgbClr val="80CBC4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780</TotalTime>
  <Words>467</Words>
  <Application>Microsoft Office PowerPoint</Application>
  <PresentationFormat>画面に合わせる (16:9)</PresentationFormat>
  <Paragraphs>56</Paragraphs>
  <Slides>7</Slides>
  <Notes>7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</vt:i4>
      </vt:variant>
    </vt:vector>
  </HeadingPairs>
  <TitlesOfParts>
    <vt:vector size="13" baseType="lpstr">
      <vt:lpstr>メイリオ</vt:lpstr>
      <vt:lpstr>メイリオ</vt:lpstr>
      <vt:lpstr>Arial</vt:lpstr>
      <vt:lpstr>Century Gothic</vt:lpstr>
      <vt:lpstr>Old Standard TT</vt:lpstr>
      <vt:lpstr>Paperback</vt:lpstr>
      <vt:lpstr>PowerPoint プレゼンテーション</vt:lpstr>
      <vt:lpstr>ターゲット</vt:lpstr>
      <vt:lpstr>コンセプト</vt:lpstr>
      <vt:lpstr>ゲームの流れ</vt:lpstr>
      <vt:lpstr>ゲームの目的</vt:lpstr>
      <vt:lpstr>操作説明</vt:lpstr>
      <vt:lpstr>ポイント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cp:lastModifiedBy>悠梓 宮地</cp:lastModifiedBy>
  <cp:revision>32</cp:revision>
  <dcterms:modified xsi:type="dcterms:W3CDTF">2026-10-05T07:52:30Z</dcterms:modified>
</cp:coreProperties>
</file>